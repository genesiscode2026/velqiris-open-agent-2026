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395a6c5f83488c" /><Relationship Type="http://schemas.openxmlformats.org/officeDocument/2006/relationships/extended-properties" Target="/docProps/app.xml" Id="R0a377db403fb4f40" /><Relationship Type="http://schemas.openxmlformats.org/officeDocument/2006/relationships/officeDocument" Target="/ppt/presentation.xml" Id="Rfc997c1e2fec48e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662be0c75324f50"/>
  </p:sldMasterIdLst>
  <p:notesMasterIdLst>
    <p:notesMasterId xmlns:r="http://schemas.openxmlformats.org/officeDocument/2006/relationships" r:id="R0a246cb6b95d44bd"/>
  </p:notesMasterIdLst>
  <p:sldIdLst>
    <p:sldId xmlns:r="http://schemas.openxmlformats.org/officeDocument/2006/relationships" id="256" r:id="R80410d1795244d1e"/>
    <p:sldId xmlns:r="http://schemas.openxmlformats.org/officeDocument/2006/relationships" id="257" r:id="R81fbb5ea2d7044c4"/>
    <p:sldId xmlns:r="http://schemas.openxmlformats.org/officeDocument/2006/relationships" id="258" r:id="Rd4a3558d0efc4da4"/>
    <p:sldId xmlns:r="http://schemas.openxmlformats.org/officeDocument/2006/relationships" id="259" r:id="Re6f52a76fb864298"/>
    <p:sldId xmlns:r="http://schemas.openxmlformats.org/officeDocument/2006/relationships" id="260" r:id="Rf93c89fba634484d"/>
    <p:sldId xmlns:r="http://schemas.openxmlformats.org/officeDocument/2006/relationships" id="261" r:id="Rf5c52263829b4bff"/>
    <p:sldId xmlns:r="http://schemas.openxmlformats.org/officeDocument/2006/relationships" id="262" r:id="R439eb525f6434fe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396db5572b4847" /><Relationship Type="http://schemas.openxmlformats.org/officeDocument/2006/relationships/slideMaster" Target="/ppt/slideMasters/slideMaster1.xml" Id="R5662be0c75324f50" /><Relationship Type="http://schemas.openxmlformats.org/officeDocument/2006/relationships/notesMaster" Target="/ppt/notesMasters/notesMaster1.xml" Id="R0a246cb6b95d44bd" /><Relationship Type="http://schemas.openxmlformats.org/officeDocument/2006/relationships/presProps" Target="/ppt/presProps.xml" Id="Raef2691f740f43bc" /><Relationship Type="http://schemas.openxmlformats.org/officeDocument/2006/relationships/tableStyles" Target="/ppt/tableStyles.xml" Id="R56b0f6dbe19a4925" /><Relationship Type="http://schemas.openxmlformats.org/officeDocument/2006/relationships/slide" Target="/ppt/slides/slide1.xml" Id="R80410d1795244d1e" /><Relationship Type="http://schemas.openxmlformats.org/officeDocument/2006/relationships/slide" Target="/ppt/slides/slide2.xml" Id="R81fbb5ea2d7044c4" /><Relationship Type="http://schemas.openxmlformats.org/officeDocument/2006/relationships/slide" Target="/ppt/slides/slide3.xml" Id="Rd4a3558d0efc4da4" /><Relationship Type="http://schemas.openxmlformats.org/officeDocument/2006/relationships/slide" Target="/ppt/slides/slide4.xml" Id="Re6f52a76fb864298" /><Relationship Type="http://schemas.openxmlformats.org/officeDocument/2006/relationships/slide" Target="/ppt/slides/slide5.xml" Id="Rf93c89fba634484d" /><Relationship Type="http://schemas.openxmlformats.org/officeDocument/2006/relationships/slide" Target="/ppt/slides/slide6.xml" Id="Rf5c52263829b4bff" /><Relationship Type="http://schemas.openxmlformats.org/officeDocument/2006/relationships/slide" Target="/ppt/slides/slide7.xml" Id="R439eb525f6434fe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ca99e09390148b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4e969d558f4770" /><Relationship Type="http://schemas.openxmlformats.org/officeDocument/2006/relationships/notesMaster" Target="/ppt/notesMasters/notesMaster1.xml" Id="R0c915b26e82642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2de4199faa4945" /><Relationship Type="http://schemas.openxmlformats.org/officeDocument/2006/relationships/notesMaster" Target="/ppt/notesMasters/notesMaster1.xml" Id="R75a374cb6bfc48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7718dad5174c8a" /><Relationship Type="http://schemas.openxmlformats.org/officeDocument/2006/relationships/notesMaster" Target="/ppt/notesMasters/notesMaster1.xml" Id="Rab206717bbab40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558d4c0e784fe8" /><Relationship Type="http://schemas.openxmlformats.org/officeDocument/2006/relationships/notesMaster" Target="/ppt/notesMasters/notesMaster1.xml" Id="R26042bea4989468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977926c65c4afb" /><Relationship Type="http://schemas.openxmlformats.org/officeDocument/2006/relationships/notesMaster" Target="/ppt/notesMasters/notesMaster1.xml" Id="Ra8bb10efded64e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faeb1cd73344cd" /><Relationship Type="http://schemas.openxmlformats.org/officeDocument/2006/relationships/notesMaster" Target="/ppt/notesMasters/notesMaster1.xml" Id="Reac17be16556433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529773e913444f" /><Relationship Type="http://schemas.openxmlformats.org/officeDocument/2006/relationships/notesMaster" Target="/ppt/notesMasters/notesMaster1.xml" Id="R3fe173c9ff3a4d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is generated by the local release build and 21-test verification run on 25 October 2026.</a:t>
            </a:r>
          </a:p>
          <a:p xmlns:a="http://schemas.openxmlformats.org/drawingml/2006/main">
            <a:r>
              <a:t>Meterless H-MEM specification: https://github.com/Meterless/Meterless/tree/main/engines/hmem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Zetaris client setup: https://zetaris.github.io/getting-started/docs/connections/client-setup.html</a:t>
            </a:r>
          </a:p>
          <a:p xmlns:a="http://schemas.openxmlformats.org/drawingml/2006/main">
            <a:r>
              <a:t>Meterless H-MEM: https://github.com/Meterless/Meterless/tree/main/engines/hmem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Values are reproduced from evidence/offline-evidence.json generated by `python3 agent/cli.py --dry-run`.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H-MEM architecture and contract: https://github.com/Meterless/Meterless/tree/main/engines/hmem</a:t>
            </a:r>
          </a:p>
          <a:p xmlns:a="http://schemas.openxmlformats.org/drawingml/2006/main">
            <a:r>
              <a:t>The receipt displayed is read from the generated offline evidence record. The H-MEM execution itself is real and local-first; the Zetaris rows in this record are fixtures.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Verification source: VERIFICATION_STATUS.md and the 21-test run produced on 25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Public repository verified: https://github.com/genesiscode2026/velqiris-open-agent-2026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834193978241e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dbd7be577545e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47013ad50547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da6639b05d4c1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b755c210cb477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bb9dca7d384ae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800BE37-B2DB-4636-B132-948C5B8142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87CC832-DF11-4E26-9361-139689E463B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E93B5EE-6066-427B-B0B0-E202F04335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3629D85-5F04-4343-ACF8-C5A7CE85C7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D0C6A05-3399-4E2A-AFAB-1BB8FA3F59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23E4C61-5C78-46BE-9F58-E26A730E9B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C7FAFD0-CC44-426D-BF25-5EBF4554A7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814325F-8B26-4AF7-8639-D3AE01348E8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C1ADE70-BDFA-4CF1-B675-8CD7792870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B581BED-64D8-4879-A006-ACC4110DF07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6c4a4b22334fb4" /><Relationship Type="http://schemas.openxmlformats.org/officeDocument/2006/relationships/slideLayout" Target="/ppt/slideLayouts/slideLayout1.xml" Id="R4a8e1e8a04d4403b" /><Relationship Type="http://schemas.openxmlformats.org/officeDocument/2006/relationships/slideLayout" Target="/ppt/slideLayouts/slideLayout2.xml" Id="Ref6112a5d33c48ab" /><Relationship Type="http://schemas.openxmlformats.org/officeDocument/2006/relationships/slideLayout" Target="/ppt/slideLayouts/slideLayout3.xml" Id="R8166c91abb214f2f" /><Relationship Type="http://schemas.openxmlformats.org/officeDocument/2006/relationships/slideLayout" Target="/ppt/slideLayouts/slideLayout4.xml" Id="R56304c85b51f48e3" /><Relationship Type="http://schemas.openxmlformats.org/officeDocument/2006/relationships/slideLayout" Target="/ppt/slideLayouts/slideLayout5.xml" Id="R15f85f3097ce4ce2" /><Relationship Type="http://schemas.openxmlformats.org/officeDocument/2006/relationships/slideLayout" Target="/ppt/slideLayouts/slideLayout6.xml" Id="R88ac0d1be3c749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8e1e8a04d4403b"/>
    <p:sldLayoutId xmlns:r="http://schemas.openxmlformats.org/officeDocument/2006/relationships" id="2147483650" r:id="Ref6112a5d33c48ab"/>
    <p:sldLayoutId xmlns:r="http://schemas.openxmlformats.org/officeDocument/2006/relationships" id="2147483651" r:id="R8166c91abb214f2f"/>
    <p:sldLayoutId xmlns:r="http://schemas.openxmlformats.org/officeDocument/2006/relationships" id="2147483652" r:id="R56304c85b51f48e3"/>
    <p:sldLayoutId xmlns:r="http://schemas.openxmlformats.org/officeDocument/2006/relationships" id="2147483653" r:id="R15f85f3097ce4ce2"/>
    <p:sldLayoutId xmlns:r="http://schemas.openxmlformats.org/officeDocument/2006/relationships" id="2147483654" r:id="R88ac0d1be3c749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b4ad872c4a4db1" /><Relationship Type="http://schemas.openxmlformats.org/officeDocument/2006/relationships/notesSlide" Target="/ppt/notesSlides/notesSlide1.xml" Id="R497a1320bbb744a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e16d205a4a4d20" /><Relationship Type="http://schemas.openxmlformats.org/officeDocument/2006/relationships/notesSlide" Target="/ppt/notesSlides/notesSlide2.xml" Id="R84f9a64a394543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a2f901921647cd" /><Relationship Type="http://schemas.openxmlformats.org/officeDocument/2006/relationships/notesSlide" Target="/ppt/notesSlides/notesSlide3.xml" Id="R59bf33498f4d4f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02668032044057" /><Relationship Type="http://schemas.openxmlformats.org/officeDocument/2006/relationships/notesSlide" Target="/ppt/notesSlides/notesSlide4.xml" Id="Rd8e0fb2ff33f4a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65164675a64d01" /><Relationship Type="http://schemas.openxmlformats.org/officeDocument/2006/relationships/notesSlide" Target="/ppt/notesSlides/notesSlide5.xml" Id="R96cb038b914f41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c12e457aa94eea" /><Relationship Type="http://schemas.openxmlformats.org/officeDocument/2006/relationships/notesSlide" Target="/ppt/notesSlides/notesSlide6.xml" Id="R750a1f0b6dcf43f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3f4c8a61db470e" /><Relationship Type="http://schemas.openxmlformats.org/officeDocument/2006/relationships/notesSlide" Target="/ppt/notesSlides/notesSlide7.xml" Id="R167eaa84b6484f1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934376-4068-4C4D-9730-3D5C717E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2381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7998BE-A6B2-4442-8D0A-D43FC703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TRACK 02 · EXPLAINABLE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B3E089-BEDC-4367-A5C6-288F8357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7429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VELQIRIS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7006B-8D73-40D0-A0A3-89DDD1B2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8096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The agent that can explain why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752433-E01A-4574-B3F4-C4E68A19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809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Evidence-first market consensus with Zetaris data access, Meterless H‑MEM context and tamper-evident receipts.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A36B5D-6F64-4E5B-8E6D-58E9F6CE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2571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47370E-BA29-49FC-865A-E4BE313A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4340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57D49B"/>
                </a:solidFill>
                <a:latin typeface="Aptos"/>
                <a:ea typeface="Aptos"/>
                <a:cs typeface="Aptos"/>
              </a:rPr>
              <a:t>21 / 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263983-FBF2-4BC7-8D2E-EFB76E32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local tests passing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7F0468-CCA0-4029-B19D-4FE41602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95750"/>
            <a:ext cx="2571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2E1469-6235-469F-84AC-ED4B0B50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4340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H‑MEM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A6404-4FFB-496F-8A8B-BD935AEA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196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integrated + traced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C059CB-551D-4B64-B14D-014E7FCC9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95750"/>
            <a:ext cx="2571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2097B-248A-4ABB-9E42-326E27118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4340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defPPr>
            <a:lvl1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1pPr>
            <a:lvl2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2pPr>
            <a:lvl3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3pPr>
            <a:lvl4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4pPr>
            <a:lvl5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5pPr>
            <a:lvl6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6pPr>
            <a:lvl7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7pPr>
            <a:lvl8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8pPr>
            <a:lvl9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FFBF6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FFBF69"/>
                </a:solidFill>
                <a:latin typeface="Aptos"/>
                <a:ea typeface="Aptos"/>
                <a:cs typeface="Aptos"/>
              </a:rPr>
              <a:t>FAIL CLOSED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530867-3E1F-420C-90B2-FC180C8C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19650"/>
            <a:ext cx="2152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Zetaris live 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EADBB1-F92A-4ADE-829E-D21D59373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238250"/>
            <a:ext cx="1714500" cy="41148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AD4873-1774-41DC-A8C8-1E8DE4EF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600200"/>
            <a:ext cx="1181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WHY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291CDB7-8C10-4468-B950-9D7A977F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247900"/>
            <a:ext cx="1181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Every decision links back to data, retrieval trace and a SHA‑256 integrity chain.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C9E051-19F0-47C9-9A6E-C9F13579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E379D6-1D07-4041-B456-398B470B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F45369-E398-42B0-AE89-8F33C383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724572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C54EF5-CF8F-4910-BA13-B2F59D396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98169D-B9E0-4D49-B39A-BD81AF13D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A price is easy. A defensible decision is hard.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5E633-70DC-40A2-B191-E4909F17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Risk teams need the reason, lineage and exclusion logic — not another opaque score.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01787-9EB3-41A8-B9F2-ED57CD8C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47900"/>
            <a:ext cx="33909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68B169-90A2-4C76-A922-BC237C3BE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57450"/>
            <a:ext cx="647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AEA83-55B4-4480-95BC-96694802C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Fragmented signals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4F6A1A-FE1A-4D62-A88A-47B9EE63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28956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Venue data disagrees. Latency and thin liquidity can make a single feed misleading.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00C33-ACB7-44EE-B16D-EBCF971F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47900"/>
            <a:ext cx="33909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BB1A5-CD62-4B3B-88C2-03776BE1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57450"/>
            <a:ext cx="647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05C4DF-040B-40D8-AF0B-85B0584A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289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Opaque filtering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150D85-EDD6-46A1-AFA5-1654CB5A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95700"/>
            <a:ext cx="28956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An outlier may be removed, but reviewers still need the exact threshold and source row.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ABFDF4-57CD-4E91-905B-C07E0C327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33909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585EF3-60E3-468F-83A6-2BBCAC0D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57450"/>
            <a:ext cx="647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3B1E60-963A-4249-BF3A-A895B273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2895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Context decay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0E3B2B-BDF2-430B-BEF5-9E3D581A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695700"/>
            <a:ext cx="28956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Without durable, provenance-bearing memory, the agent cannot explain what it knew or why.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7691CA-8924-41CC-B3C8-EF696EE1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744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21D0F6-97BF-432D-8B90-6D35E6F7A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8640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User → institutional risk manager / execution reviewer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4801FE-98E3-4388-9C07-6F5AD0F5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4864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12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Decision → include, reject, route or escalate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B31707-8BCE-4001-B2CA-3696B74C7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4C0C7D-933F-4F99-BA6C-A3E51089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CE864-02BD-4937-BED5-8F7E96B9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326683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234EC4-E7ED-491F-8C17-A3CBC185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7C7D9B-5A48-4A86-A5D1-30028104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One evidence chain, two sponsor layers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6DA8E-3D8F-4F2C-9347-05143BCBE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Every boundary emits a machine-readable receipt; missing live prerequisites stop the run.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5C9F0-DE76-4587-BF46-20D98CC9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1924050" cy="19621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ED1FD9-980B-4424-9D9A-D963A8FF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8CFF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52BC6-BF52-44AB-BE42-56A82AD4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8ED88D-F97D-410A-B3C1-1BB31A3C7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Zetaris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AB7497-4DD4-4065-BFAE-5FEB91F0F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governed SQL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C9DD00-F4CF-4B28-BBC5-CD3C5CE7E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1813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5E49DA-F9C2-4252-B07A-8700B5ED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476500"/>
            <a:ext cx="1924050" cy="19621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4EFA4C-4AE8-4718-8BFD-A26A1599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47950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754A48-A720-4EB7-BF9C-37D9DD9F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6860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30DE96-5BCB-4E61-BB97-45C15C930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813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VELQIRIS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A0D613-951B-4AE0-AD53-B2E818E5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79095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MAD + consensus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1E0CDE-146F-4469-9955-4DAF0744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1813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D4BD4E-7D2E-4D01-B316-07E0A97E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76500"/>
            <a:ext cx="1924050" cy="19621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356FA0-B99E-4658-9B1D-4B4A05347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47950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3EC050-9B47-4B4C-ACE1-2A4B646C3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860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73258A-936A-40E0-8610-1E143F24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813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Meterless H‑MEM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290D79-C9C9-44F9-8871-7279DEDC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79095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capture + retrieve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3462FA-E5F1-4523-92C4-1089F28A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813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B1D01D-54B8-426A-B742-48E4F8AD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476500"/>
            <a:ext cx="1924050" cy="19621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FFBF6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49C147-977A-470F-ABD3-F70A27AB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47950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F69"/>
          </a:solidFill>
          <a:ln xmlns:a="http://schemas.openxmlformats.org/drawingml/2006/main" w="9525">
            <a:solidFill>
              <a:srgbClr val="FFBF6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666953-C8C1-4CCE-BA41-8912B9B6F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860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898AC1-8EA4-4756-83D9-1A56D3DC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1813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Explanation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9F3797-E72D-4BA1-B74D-740085C4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9095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grounded rationale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809BB2-A740-4365-B47E-4901292E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28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83615C-C39F-4654-A869-4A41BB0B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76500"/>
            <a:ext cx="1924050" cy="196215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FF718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64BD52-F8F8-4E6E-B256-F4AECB9AA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47950"/>
            <a:ext cx="3619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185"/>
          </a:solidFill>
          <a:ln xmlns:a="http://schemas.openxmlformats.org/drawingml/2006/main" w="9525">
            <a:solidFill>
              <a:srgbClr val="FF718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35A300-5489-421E-B216-BAEB0ECF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686050"/>
            <a:ext cx="361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1177F0-11DF-4434-BF0D-2CDAC549C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181350"/>
            <a:ext cx="1581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0B7701-3EB6-4BA6-81AA-25C07E394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790950"/>
            <a:ext cx="1581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digest + ledger head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6E2EAB-6A36-4C66-B57E-C263E323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7442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0C275B-858E-46E3-A544-55D266CB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1238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F69"/>
          </a:solidFill>
          <a:ln xmlns:a="http://schemas.openxmlformats.org/drawingml/2006/main" w="9525">
            <a:solidFill>
              <a:srgbClr val="FFBF6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9B6C0D-0F4F-488A-A37C-CF6618E3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RELEASE GATE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89C501-0578-4B1E-8291-893E8069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1054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No credentials → no live claim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705901-D314-40CD-8757-C659F2DD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4673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Fixtures run only with --dry-run and are labelled OFFLINE_SIMULATION in the evidence record.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4769A5E-5198-4713-B48C-3EAA40F1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B8DD227-F881-4859-96C5-81A6DB2A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8BAF09-694F-4308-B9A9-9F420375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764877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735D35-CDCE-445F-884E-F49758C4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DECISION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68FBD6-55C9-4FD6-A25B-1D86058F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Robust consensus, explicit rejection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E8457C-5791-4CF5-8793-F1081A5A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The sample below is a deterministic offline fixture — useful for reproducibility, never presented as a live venue snapshot.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127296-B69D-4058-9B56-06D3DEF1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5240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F69"/>
          </a:solidFill>
          <a:ln xmlns:a="http://schemas.openxmlformats.org/drawingml/2006/main" w="9525">
            <a:solidFill>
              <a:srgbClr val="FFBF69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31413B-7C35-419D-A38E-DFFBE41C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OFFLINE SIMULATION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09B206-38B5-4640-93C1-D1E478D69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76500"/>
            <a:ext cx="21145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F72A7-B787-4DA8-A744-297649F1E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860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$67,450.66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43689B-D83F-499E-A4D5-8A37057A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consensus VWAP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C0FEE7-D39D-4BEB-9E17-B63EA7E3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76500"/>
            <a:ext cx="21145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B3AB51-E02D-4369-91C2-D739A511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860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0.09 bps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F5F75D-9D63-4E3F-9999-DBD2AC9A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242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post-filter spread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83526-660D-4B17-A348-FDB48F2E0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21145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9BF2A2-9214-44B0-B9A9-EBB3A70B0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6860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CALM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797896-6525-4183-95C1-CE2A2B37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124200"/>
            <a:ext cx="1771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risk regime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B7E879-A446-4260-8E3B-3E47D9C47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6838950" cy="1962150"/>
          </a:xfrm>
          <a:prstGeom xmlns:a="http://schemas.openxmlformats.org/drawingml/2006/main" prst="roundRect">
            <a:avLst>
              <a:gd name="adj" fmla="val 5825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1751E-280B-45B3-891F-F82AE4EA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7D49B"/>
                </a:solidFill>
                <a:latin typeface="Aptos"/>
                <a:ea typeface="Aptos"/>
                <a:cs typeface="Aptos"/>
              </a:rPr>
              <a:t>Included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C52FA0-A4F5-4D7D-985E-2FC51468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4340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BINANCE · COINBASE · OKX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30BE06-CDAC-44DA-9C7D-1DB5EB3B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314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7185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7185"/>
                </a:solidFill>
                <a:latin typeface="Aptos"/>
                <a:ea typeface="Aptos"/>
                <a:cs typeface="Aptos"/>
              </a:rPr>
              <a:t>Rejected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B42EC6-D3FF-4B79-B911-667E6BBCC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609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8FC"/>
                </a:solidFill>
                <a:latin typeface="Aptos"/>
                <a:ea typeface="Aptos"/>
                <a:cs typeface="Aptos"/>
              </a:rPr>
              <a:t>ANOMALY_DEX — deviation exceeded the 3× MAD ceiling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A839CA-7682-4CD2-85C5-41FF904C6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476500"/>
            <a:ext cx="3486150" cy="3276600"/>
          </a:xfrm>
          <a:prstGeom xmlns:a="http://schemas.openxmlformats.org/drawingml/2006/main" prst="roundRect">
            <a:avLst>
              <a:gd name="adj" fmla="val 3488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92BF1E-9D46-4812-B485-8907B4FE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24150"/>
            <a:ext cx="3028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Why MAD?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9983B0-DF60-4CFA-907F-4366A34A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623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F41A51-00D2-498F-BB25-76FDF2507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9565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8FC"/>
                </a:solidFill>
                <a:latin typeface="Aptos"/>
                <a:ea typeface="Aptos"/>
                <a:cs typeface="Aptos"/>
              </a:rPr>
              <a:t>Median anchors the center without trusting a single venue.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545AF1-7622-4A95-AFC4-DF99F00F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909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1E0DEF-58D6-4267-A339-11D6ADC4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243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8FC"/>
                </a:solidFill>
                <a:latin typeface="Aptos"/>
                <a:ea typeface="Aptos"/>
                <a:cs typeface="Aptos"/>
              </a:rPr>
              <a:t>Deviation threshold is computed, stored and inspectable.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F6CA85-A9CC-465E-A17E-692980F87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196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AD90B7-E5D3-49E0-8475-6E4EAC14E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5295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8FC"/>
                </a:solidFill>
                <a:latin typeface="Aptos"/>
                <a:ea typeface="Aptos"/>
                <a:cs typeface="Aptos"/>
              </a:rPr>
              <a:t>Risk spread is calculated only after outlier rejection.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1628AA-E328-4604-8F9E-5BC66328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482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B430CB-4B33-45A4-BFF9-98233170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81600"/>
            <a:ext cx="2686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4F8FC"/>
                </a:solidFill>
                <a:latin typeface="Aptos"/>
                <a:ea typeface="Aptos"/>
                <a:cs typeface="Aptos"/>
              </a:rPr>
              <a:t>Every result is sealed with a SHA‑256 integrity digest.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EAFF47-E754-421C-B661-3BAAA7C7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36B51F-1080-4A33-9539-71FAA3BB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99AA50-9F94-4F99-B2C2-67843A84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264736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2CC3C8-D66C-49DA-B1A0-BD2803A25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METERLESS INTEGRATION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7C8AD5-03A9-42CE-9C73-406E8589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H‑MEM turns a result into durable, auditable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8F2896-CE97-4E60-AB6F-5CE36BB8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The release implements the exact profile it uses — and names the services it does not claim.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F67097-43BE-4755-AA4F-30DB554D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327660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94ABF8-997C-49A2-ABF2-AAF8B954C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574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B8CFF"/>
          </a:solidFill>
          <a:ln xmlns:a="http://schemas.openxmlformats.org/drawingml/2006/main" w="9525">
            <a:solidFill>
              <a:srgbClr val="5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313935-104B-416B-90EC-1EA0426B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95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4A38C6-38B9-48A6-AEB7-3F18B8EF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Canonical record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1B48E-B4D3-4491-8F7D-911EF0C8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source · confidence · entities · derivedFrom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606CF7-414E-456A-9F5A-B5FC80FAD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66950"/>
            <a:ext cx="327660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E29AA-76C9-45A3-A083-B29AEF61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574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9CC23-F250-4ED3-A5C8-A3C8616B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95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RETRIEVE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5F2820-1A77-4FB1-B065-02E757E9D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908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Hybrid ranking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FBCE98-9E9E-4CA2-ADC6-6273BC01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861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keywords · tags · domain · layer · recency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C075F1-BD03-457E-A028-0502D4F9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266950"/>
            <a:ext cx="3276600" cy="1847850"/>
          </a:xfrm>
          <a:prstGeom xmlns:a="http://schemas.openxmlformats.org/drawingml/2006/main" prst="roundRect">
            <a:avLst>
              <a:gd name="adj" fmla="val 6186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B1CF36-6DCD-4CF3-B32E-A7212B128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9525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732A38-4B01-4FD7-96E2-FC23338F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95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AUDIT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387455-E198-4C14-8694-E6D70FF1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9908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Trust ledger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222453-B96D-4EC2-AD84-B3D298D0F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86150"/>
            <a:ext cx="2819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append-only · hash-chained · tamper-evident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BB8A99-5895-439B-9BE6-44DE040C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744200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E60FDC-EE4C-4206-99B4-40F6E6F5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EXECUTION RECEIPT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7ABE3F-8919-48E3-9872-35A599EBE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4825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engine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3CAF0C-7E08-4604-9588-44FBC888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0292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Meterless H-MEM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7A1355-0E4A-40B5-AB76-C7568092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482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ledger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7C00CA-829D-485B-B428-6B4EAF35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5029200"/>
            <a:ext cx="276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52815d12eeedc8e1f770…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8E6894-B04E-49FC-9BEB-8BF8E4A9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5048250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A3B1F5-B159-4C29-974A-CDB8A432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0292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7D49B"/>
                </a:solidFill>
                <a:latin typeface="Aptos"/>
                <a:ea typeface="Aptos"/>
                <a:cs typeface="Aptos"/>
              </a:rPr>
              <a:t>5 H‑MEM + end-to-end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0C7F15-50CF-4DF7-99ED-387F6256C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0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Scope boundary: dreaming, sleep and conflict resolution are not claimed in this hackathon profile.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2B610F-75CE-4ED2-BFEB-761735A1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2C145B-2EE3-4639-990A-BB13D7B4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76EF7A-A164-4301-8723-9B666923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185477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6B326E-86A7-40A3-AB35-44B6F748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50EB53-50B2-4AFE-A67E-845807E4D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Claim boundaries are part of the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CA6726-DD4A-4266-B89C-26136065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A strong submission distinguishes what is proven, what is simulated and what remains blocked.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94EFD1-0BBA-4E7A-9D8F-F087DC2AD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744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91E7E9-BE97-4994-86C6-D7B1DCCB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Local test suite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704D2-9811-4DF5-A5B6-A90E7A3A7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860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21 / 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838C30-06EB-4C27-BDEE-FED0B37C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2E96B-C480-412A-950D-E9FC9AAF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0505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VERIFIED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6A95C2-A43E-4285-9AA2-315BD2F8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10744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82AB1A-8A12-4DD7-9AA6-B5EB08085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289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Meterless H‑MEM profile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166F05-AC79-4E8D-B2CF-784764195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28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capture · retrieve · ledger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245668-235E-4F09-B5C9-20C9B266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0990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B6A958-2554-4D92-993C-53FA8BEF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04800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VERIFIED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9791C3-E39C-47C7-8A8A-C4C3F08F1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744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B05A4D-2D57-407D-8B51-C20D8019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SHA‑256 evidence digest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490CD9-06BF-47E5-ACE4-64FAD44B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719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payload integrity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D7CC2E-ACC3-4ADB-947B-5BCB33D1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5285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55AF4D-C291-40B8-8701-698D83955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9095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VERIFIED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6A9C04-0D25-4E8E-873F-8C5CE180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10744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D34880-691D-44BB-953A-8920AC43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1485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Live Zetaris query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9CAD84-07B4-405B-B982-1AF2A2B7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148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credential + receipt required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B4C0C0-6062-4C5B-8BF9-E7C64DBA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49580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BF69"/>
          </a:solidFill>
          <a:ln xmlns:a="http://schemas.openxmlformats.org/drawingml/2006/main" w="9525">
            <a:solidFill>
              <a:srgbClr val="FFBF6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2F01B0-F02A-4318-9938-A873B33E1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3390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B2B409-7FEE-4450-99EC-F098C9AA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107442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F15DC8-F9B6-455E-866A-D43250AE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57800"/>
            <a:ext cx="333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External model 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EB0AFE-7FD8-4869-BBCB-0ACDF813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2578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1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optional adapter, no live claim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25AF20-C73C-47A6-85FB-E2B1F55C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38750"/>
            <a:ext cx="16764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CB0C5"/>
          </a:solidFill>
          <a:ln xmlns:a="http://schemas.openxmlformats.org/drawingml/2006/main" w="9525">
            <a:solidFill>
              <a:srgbClr val="9CB0C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8BFE70-65FB-488F-8DC6-181E0464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76850"/>
            <a:ext cx="1676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NOT CLAIMED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B71438-EC59-450E-A519-C0832629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91D058-B700-420C-9CCF-66F0ED84F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5BB4A4-BC65-454D-B731-AD3B82F05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831421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17E067-D8E0-4437-BE70-EB4315695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700549-AF53-465B-A77B-88242FFC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Run the proof in two commands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B15141-1822-44D6-94DC-5F82FBA85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No hidden notebook, no silent fallback, no unverifiable integration claim.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66CB2E-0542-413F-8075-437DB259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68580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050B13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C16B86-A6EC-4670-9946-75D574B14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7D49B"/>
                </a:solidFill>
                <a:latin typeface="Aptos"/>
                <a:ea typeface="Aptos"/>
                <a:cs typeface="Aptos"/>
              </a:rPr>
              <a:t>$ python3 tests/run_all_tests.py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11956-D509-4030-A84F-B736983F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21 tests · 0 failures · 0 errors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AEE5E6-9A6A-40FA-B890-F0713D2B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90900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$ python3 agent/cli.py --dry-run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2941B9-3931-482D-A104-59BB962AE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OFFLINE_SIMULATION + H‑MEM receipt + SHA‑256 digest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C309BF-1224-4D89-949A-4120B2EE3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095500"/>
            <a:ext cx="352425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0D1B2D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CA505A-C9B8-4AC2-9839-660B04CF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43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RELEASE CHECKLIST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69B679-E1DE-4140-9485-6602DCE7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670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BF27FA-3FCC-4308-85A3-429FB29C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00350"/>
            <a:ext cx="264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57D49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7D49B"/>
                </a:solidFill>
                <a:latin typeface="Aptos"/>
                <a:ea typeface="Aptos"/>
                <a:cs typeface="Aptos"/>
              </a:rPr>
              <a:t>Public repository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F5CD3E-D1C6-466B-9DEC-27FB5EE0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242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F8CEAE-2CC7-4095-AAEB-5D6373C92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257550"/>
            <a:ext cx="264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BF69"/>
                </a:solidFill>
                <a:latin typeface="Aptos"/>
                <a:ea typeface="Aptos"/>
                <a:cs typeface="Aptos"/>
              </a:rPr>
              <a:t>1–4 minute demo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14BD8-0C38-4332-BDCC-8FA56A31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814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3D7E6"/>
          </a:solidFill>
          <a:ln xmlns:a="http://schemas.openxmlformats.org/drawingml/2006/main" w="9525">
            <a:solidFill>
              <a:srgbClr val="43D7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AC0A94-F40D-4AA4-9265-F8A1209F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714750"/>
            <a:ext cx="264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defPPr>
            <a:lvl1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1pPr>
            <a:lvl2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2pPr>
            <a:lvl3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3pPr>
            <a:lvl4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4pPr>
            <a:lvl5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5pPr>
            <a:lvl6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6pPr>
            <a:lvl7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7pPr>
            <a:lvl8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8pPr>
            <a:lvl9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275" b="0">
                <a:solidFill>
                  <a:srgbClr val="FFBF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FBF69"/>
                </a:solidFill>
                <a:latin typeface="Aptos"/>
                <a:ea typeface="Aptos"/>
                <a:cs typeface="Aptos"/>
              </a:rPr>
              <a:t>Live Zetaris receipt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97FE9C-1D01-406D-9840-1817DE02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7442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11243A"/>
          </a:solidFill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B814AA-33AE-4DFB-88BF-4E9A46A0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72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900" b="1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CB0C5"/>
                </a:solidFill>
                <a:latin typeface="Aptos"/>
                <a:ea typeface="Aptos"/>
                <a:cs typeface="Aptos"/>
              </a:rPr>
              <a:t>REPOSITORY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B33394-D4DE-4301-B639-57A048A64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149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defPPr>
            <a:lvl1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1pPr>
            <a:lvl2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2pPr>
            <a:lvl3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3pPr>
            <a:lvl4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4pPr>
            <a:lvl5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5pPr>
            <a:lvl6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6pPr>
            <a:lvl7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7pPr>
            <a:lvl8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8pPr>
            <a:lvl9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F4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F8FC"/>
                </a:solidFill>
                <a:latin typeface="Aptos"/>
                <a:ea typeface="Aptos"/>
                <a:cs typeface="Aptos"/>
              </a:rPr>
              <a:t>github.com/genesiscode2026/velqiris-open-agent-2026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36F8B6-8EFC-49D2-85FD-96ADF66F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19700"/>
            <a:ext cx="22098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7D49B"/>
          </a:solidFill>
          <a:ln xmlns:a="http://schemas.openxmlformats.org/drawingml/2006/main" w="9525">
            <a:solidFill>
              <a:srgbClr val="57D49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CE0FBD-BB57-4D10-9C2A-E529EA69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2578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ctr">
              <a:defRPr sz="900" b="1">
                <a:solidFill>
                  <a:srgbClr val="07111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1F"/>
                </a:solidFill>
                <a:latin typeface="Aptos"/>
                <a:ea typeface="Aptos"/>
                <a:cs typeface="Aptos"/>
              </a:rPr>
              <a:t>PUBLIC &amp; VERIFIED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A6B3A6-0220-4F2C-8C3A-243B1C76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8405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55234D-C2F6-434E-846F-A1337836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defPPr>
            <a:lvl1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1pPr>
            <a:lvl2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2pPr>
            <a:lvl3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3pPr>
            <a:lvl4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4pPr>
            <a:lvl5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5pPr>
            <a:lvl6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6pPr>
            <a:lvl7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7pPr>
            <a:lvl8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8pPr>
            <a:lvl9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l">
              <a:defRPr sz="825" b="0">
                <a:solidFill>
                  <a:srgbClr val="9CB0C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CB0C5"/>
                </a:solidFill>
                <a:latin typeface="Aptos"/>
                <a:ea typeface="Aptos"/>
                <a:cs typeface="Aptos"/>
              </a:rPr>
              <a:t>VELQIRIS · Open Agent Hackathon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7A0E09-7C67-4776-9C06-E73FE532D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5320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defPPr>
            <a:lvl1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1pPr>
            <a:lvl2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2pPr>
            <a:lvl3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3pPr>
            <a:lvl4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4pPr>
            <a:lvl5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5pPr>
            <a:lvl6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6pPr>
            <a:lvl7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7pPr>
            <a:lvl8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8pPr>
            <a:lvl9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lvl9pPr>
          </a:lstStyle>
          <a:p xmlns:a="http://schemas.openxmlformats.org/drawingml/2006/main">
            <a:pPr algn="r">
              <a:defRPr sz="825" b="1">
                <a:solidFill>
                  <a:srgbClr val="43D7E6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43D7E6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899378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2026-10-25T18:10:01.2610000Z</dcterms:created>
  <dcterms:modified xsi:type="dcterms:W3CDTF">2026-10-25T18:10:01.2610000Z</dcterms:modified>
</coreProperties>
</file>